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240000">
            <a:off x="-914400" y="4206240"/>
            <a:ext cx="14020495" cy="2926080"/>
          </a:xfrm>
          <a:prstGeom prst="rect">
            <a:avLst/>
          </a:prstGeom>
          <a:solidFill>
            <a:srgbClr val="10281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 •  DBMS PROJECT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Sports Club Membership &amp;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Tournament Management System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Implementation of a Relational Database Management System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5212080"/>
            <a:ext cx="2743200" cy="822960"/>
          </a:xfrm>
          <a:prstGeom prst="rect">
            <a:avLst/>
          </a:prstGeom>
          <a:solidFill>
            <a:srgbClr val="20543F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2120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30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0" y="5349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MySQL 8  |  Front End: Python (Flask)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IDENTIFICATION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System Is Needed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502920" cy="457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5257800" cy="196596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183794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Records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Member, coach, team and equipment data are kept in registers or spreadsheets, causing duplication and lost updates.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257800" cy="196596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87452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23760" y="183794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Scheduling Conflicts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37960" y="246888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check prevents a facility or team from being double-booked for training or fixtures.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5257800" cy="196596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20624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08760" y="416966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Membership Leakage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480060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or inactive memberships are not flagged, so ineligible members keep using club services.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3931920"/>
            <a:ext cx="5257800" cy="196596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37960" y="420624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23760" y="416966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Tournament Ops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37960" y="480060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 creation, score entry and standings are compiled manually, delaying results and reports.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30 · Sports Club DBMS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Will and Will Not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502920" cy="457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54480"/>
            <a:ext cx="5349240" cy="4480560"/>
          </a:xfrm>
          <a:prstGeom prst="rect">
            <a:avLst/>
          </a:prstGeom>
          <a:solidFill>
            <a:srgbClr val="F7F5E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Scope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96112" y="2487168"/>
            <a:ext cx="100584" cy="100584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3774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registration &amp; membership plans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96112" y="2990088"/>
            <a:ext cx="100584" cy="100584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8803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formation and coach assignment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96112" y="3493008"/>
            <a:ext cx="100584" cy="100584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3832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booking &amp; training scheduling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6112" y="3995928"/>
            <a:ext cx="100584" cy="100584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8862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Tournament, fixture and result management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6112" y="4498848"/>
            <a:ext cx="100584" cy="100584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4389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collection and dues tracking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96112" y="5001768"/>
            <a:ext cx="100584" cy="100584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48920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issue / return tracking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96112" y="5504688"/>
            <a:ext cx="100584" cy="100584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53949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Reports: standings, dues, usage, performance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360" y="1554480"/>
            <a:ext cx="5349240" cy="4480560"/>
          </a:xfrm>
          <a:prstGeom prst="rect">
            <a:avLst/>
          </a:prstGeom>
          <a:solidFill>
            <a:srgbClr val="FBF3E3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C6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Scope (Phase 1)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656832" y="2487168"/>
            <a:ext cx="100584" cy="100584"/>
          </a:xfrm>
          <a:prstGeom prst="ellipse">
            <a:avLst/>
          </a:prstGeom>
          <a:solidFill>
            <a:srgbClr val="9C6B1F"/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23774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 gateway integration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656832" y="2990088"/>
            <a:ext cx="100584" cy="100584"/>
          </a:xfrm>
          <a:prstGeom prst="ellipse">
            <a:avLst/>
          </a:prstGeom>
          <a:solidFill>
            <a:srgbClr val="9C6B1F"/>
          </a:solidFill>
          <a:ln/>
        </p:spPr>
      </p:sp>
      <p:sp>
        <p:nvSpPr>
          <p:cNvPr id="26" name="Text 24"/>
          <p:cNvSpPr/>
          <p:nvPr/>
        </p:nvSpPr>
        <p:spPr>
          <a:xfrm>
            <a:off x="6903720" y="28803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56832" y="3493008"/>
            <a:ext cx="100584" cy="100584"/>
          </a:xfrm>
          <a:prstGeom prst="ellipse">
            <a:avLst/>
          </a:prstGeom>
          <a:solidFill>
            <a:srgbClr val="9C6B1F"/>
          </a:solidFill>
          <a:ln/>
        </p:spPr>
      </p:sp>
      <p:sp>
        <p:nvSpPr>
          <p:cNvPr id="28" name="Text 26"/>
          <p:cNvSpPr/>
          <p:nvPr/>
        </p:nvSpPr>
        <p:spPr>
          <a:xfrm>
            <a:off x="6903720" y="33832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video streaming of matches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656832" y="3995928"/>
            <a:ext cx="100584" cy="100584"/>
          </a:xfrm>
          <a:prstGeom prst="ellipse">
            <a:avLst/>
          </a:prstGeom>
          <a:solidFill>
            <a:srgbClr val="9C6B1F"/>
          </a:solidFill>
          <a:ln/>
        </p:spPr>
      </p:sp>
      <p:sp>
        <p:nvSpPr>
          <p:cNvPr id="30" name="Text 28"/>
          <p:cNvSpPr/>
          <p:nvPr/>
        </p:nvSpPr>
        <p:spPr>
          <a:xfrm>
            <a:off x="6903720" y="38862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Public-facing member self-service portal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30 · Sports Club DBMS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Database Design Sets Out to Achieve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502920" cy="457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00784"/>
            <a:ext cx="457200" cy="4572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6459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conceptual ER model covering members, teams, coaches, facilities, tournaments and equipment.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46520" y="1700784"/>
            <a:ext cx="457200" cy="4572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040880" y="16459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ER model into a relational schema normalized up to Third Normal Form (3NF).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163824"/>
            <a:ext cx="457200" cy="4572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163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43000" y="31089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business rules with PK, FK, UNIQUE, NOT NULL, CHECK and DEFAULT constraints.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46520" y="3163824"/>
            <a:ext cx="457200" cy="4572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3163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040880" y="31089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overlapping facility and team schedules and require an active membership for participation.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626864"/>
            <a:ext cx="457200" cy="4572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626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3000" y="45720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tournament fixtures, valid score entry and automatic standings computation.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46520" y="4626864"/>
            <a:ext cx="457200" cy="4572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626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40880" y="45720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reports for memberships, fee dues, facility usage, player performance and equipment status.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30 · Sports Club DBMS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OF THE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That Will Interact With the Database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502920" cy="457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5" name="Shape 3"/>
          <p:cNvSpPr/>
          <p:nvPr/>
        </p:nvSpPr>
        <p:spPr>
          <a:xfrm>
            <a:off x="586588" y="1691640"/>
            <a:ext cx="2057400" cy="38404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6" name="Shape 4"/>
          <p:cNvSpPr/>
          <p:nvPr/>
        </p:nvSpPr>
        <p:spPr>
          <a:xfrm>
            <a:off x="1249528" y="2011680"/>
            <a:ext cx="731520" cy="73152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Text 5"/>
          <p:cNvSpPr/>
          <p:nvPr/>
        </p:nvSpPr>
        <p:spPr>
          <a:xfrm>
            <a:off x="1249528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23748" y="29260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Club Admin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69468" y="356616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members, membership plans, fees, facilities and overall records.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826868" y="1691640"/>
            <a:ext cx="2057400" cy="384048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1" name="Shape 9"/>
          <p:cNvSpPr/>
          <p:nvPr/>
        </p:nvSpPr>
        <p:spPr>
          <a:xfrm>
            <a:off x="3489808" y="2011680"/>
            <a:ext cx="731520" cy="73152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2" name="Text 10"/>
          <p:cNvSpPr/>
          <p:nvPr/>
        </p:nvSpPr>
        <p:spPr>
          <a:xfrm>
            <a:off x="3489808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964028" y="29260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Coach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009748" y="356616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training sessions, views assigned teams and player attendance.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67148" y="1691640"/>
            <a:ext cx="2057400" cy="38404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6" name="Shape 14"/>
          <p:cNvSpPr/>
          <p:nvPr/>
        </p:nvSpPr>
        <p:spPr>
          <a:xfrm>
            <a:off x="5730088" y="2011680"/>
            <a:ext cx="731520" cy="73152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7" name="Text 15"/>
          <p:cNvSpPr/>
          <p:nvPr/>
        </p:nvSpPr>
        <p:spPr>
          <a:xfrm>
            <a:off x="5730088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MP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204308" y="29260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 / Player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250028" y="356616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Enrolls in plans, joins teams, views fixtures, results and fee dues.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07428" y="1691640"/>
            <a:ext cx="2057400" cy="384048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1" name="Shape 19"/>
          <p:cNvSpPr/>
          <p:nvPr/>
        </p:nvSpPr>
        <p:spPr>
          <a:xfrm>
            <a:off x="7970368" y="2011680"/>
            <a:ext cx="731520" cy="73152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2" name="Text 20"/>
          <p:cNvSpPr/>
          <p:nvPr/>
        </p:nvSpPr>
        <p:spPr>
          <a:xfrm>
            <a:off x="7970368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444588" y="29260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Facility Manager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490308" y="356616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and tracks facility bookings to avoid schedule clashes.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547708" y="1691640"/>
            <a:ext cx="2057400" cy="38404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6" name="Shape 24"/>
          <p:cNvSpPr/>
          <p:nvPr/>
        </p:nvSpPr>
        <p:spPr>
          <a:xfrm>
            <a:off x="10210648" y="2011680"/>
            <a:ext cx="731520" cy="73152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7" name="Text 25"/>
          <p:cNvSpPr/>
          <p:nvPr/>
        </p:nvSpPr>
        <p:spPr>
          <a:xfrm>
            <a:off x="10210648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684868" y="29260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Tournament Organizer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9730588" y="356616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tournaments and fixtures, and enters match results.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30 · Sports Club DBMS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Capabilities the System Must Support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502920" cy="457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5" name="Shape 3"/>
          <p:cNvSpPr/>
          <p:nvPr/>
        </p:nvSpPr>
        <p:spPr>
          <a:xfrm>
            <a:off x="426568" y="1645920"/>
            <a:ext cx="3566160" cy="128016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5168" y="1828800"/>
            <a:ext cx="365760" cy="36576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Text 5"/>
          <p:cNvSpPr/>
          <p:nvPr/>
        </p:nvSpPr>
        <p:spPr>
          <a:xfrm>
            <a:off x="655168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5168" y="23042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registration &amp; renewal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12768" y="1645920"/>
            <a:ext cx="3566160" cy="128016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41368" y="1828800"/>
            <a:ext cx="365760" cy="36576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1" name="Text 9"/>
          <p:cNvSpPr/>
          <p:nvPr/>
        </p:nvSpPr>
        <p:spPr>
          <a:xfrm>
            <a:off x="4541368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41368" y="23042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formation &amp; roster management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98968" y="1645920"/>
            <a:ext cx="3566160" cy="128016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27568" y="1828800"/>
            <a:ext cx="365760" cy="36576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5" name="Text 13"/>
          <p:cNvSpPr/>
          <p:nvPr/>
        </p:nvSpPr>
        <p:spPr>
          <a:xfrm>
            <a:off x="8427568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27568" y="23042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&amp; facility assignment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26568" y="3200400"/>
            <a:ext cx="3566160" cy="128016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5168" y="3383280"/>
            <a:ext cx="365760" cy="36576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9" name="Text 17"/>
          <p:cNvSpPr/>
          <p:nvPr/>
        </p:nvSpPr>
        <p:spPr>
          <a:xfrm>
            <a:off x="655168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5168" y="38587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session scheduling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312768" y="3200400"/>
            <a:ext cx="3566160" cy="128016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41368" y="3383280"/>
            <a:ext cx="365760" cy="36576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3" name="Text 21"/>
          <p:cNvSpPr/>
          <p:nvPr/>
        </p:nvSpPr>
        <p:spPr>
          <a:xfrm>
            <a:off x="4541368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41368" y="38587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booking with conflict checks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8198968" y="3200400"/>
            <a:ext cx="3566160" cy="128016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27568" y="3383280"/>
            <a:ext cx="365760" cy="36576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7" name="Text 25"/>
          <p:cNvSpPr/>
          <p:nvPr/>
        </p:nvSpPr>
        <p:spPr>
          <a:xfrm>
            <a:off x="8427568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27568" y="38587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 &amp; fixture creation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426568" y="4754880"/>
            <a:ext cx="3566160" cy="128016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5168" y="4937760"/>
            <a:ext cx="365760" cy="36576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31" name="Text 29"/>
          <p:cNvSpPr/>
          <p:nvPr/>
        </p:nvSpPr>
        <p:spPr>
          <a:xfrm>
            <a:off x="655168" y="4937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5168" y="54132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result entry &amp; standings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4312768" y="4754880"/>
            <a:ext cx="3566160" cy="128016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41368" y="4937760"/>
            <a:ext cx="365760" cy="36576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35" name="Text 33"/>
          <p:cNvSpPr/>
          <p:nvPr/>
        </p:nvSpPr>
        <p:spPr>
          <a:xfrm>
            <a:off x="4541368" y="4937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41368" y="54132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collection &amp; dues tracking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8198968" y="4754880"/>
            <a:ext cx="3566160" cy="128016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27568" y="4937760"/>
            <a:ext cx="365760" cy="36576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39" name="Text 37"/>
          <p:cNvSpPr/>
          <p:nvPr/>
        </p:nvSpPr>
        <p:spPr>
          <a:xfrm>
            <a:off x="8427568" y="4937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427568" y="54132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issue / return tracking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30 · Sports Club DBMS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Diagram — Membership &amp; Sports Domain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502920" cy="457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5" name="Shape 3"/>
          <p:cNvSpPr/>
          <p:nvPr/>
        </p:nvSpPr>
        <p:spPr>
          <a:xfrm>
            <a:off x="4709160" y="1444752"/>
            <a:ext cx="2743200" cy="731520"/>
          </a:xfrm>
          <a:prstGeom prst="rect">
            <a:avLst/>
          </a:prstGeom>
          <a:solidFill>
            <a:srgbClr val="1B4332"/>
          </a:solidFill>
          <a:ln w="9525">
            <a:solidFill>
              <a:srgbClr val="10281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09160" y="15087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09160" y="18562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member_id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2788920"/>
            <a:ext cx="2468880" cy="731520"/>
          </a:xfrm>
          <a:prstGeom prst="rect">
            <a:avLst/>
          </a:prstGeom>
          <a:solidFill>
            <a:srgbClr val="2D6A4F"/>
          </a:solidFill>
          <a:ln w="9525">
            <a:solidFill>
              <a:srgbClr val="10281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85292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MEMBERSHIP_PLAN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2004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plan_id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46120" y="2788920"/>
            <a:ext cx="2468880" cy="731520"/>
          </a:xfrm>
          <a:prstGeom prst="rect">
            <a:avLst/>
          </a:prstGeom>
          <a:solidFill>
            <a:srgbClr val="2D6A4F"/>
          </a:solidFill>
          <a:ln w="9525">
            <a:solidFill>
              <a:srgbClr val="10281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46120" y="285292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46120" y="32004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payment_id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89320" y="2788920"/>
            <a:ext cx="2468880" cy="731520"/>
          </a:xfrm>
          <a:prstGeom prst="rect">
            <a:avLst/>
          </a:prstGeom>
          <a:solidFill>
            <a:srgbClr val="2D6A4F"/>
          </a:solidFill>
          <a:ln w="9525">
            <a:solidFill>
              <a:srgbClr val="10281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89320" y="285292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TEAM_MEMBER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89320" y="32004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team_member_id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732520" y="2788920"/>
            <a:ext cx="2468880" cy="731520"/>
          </a:xfrm>
          <a:prstGeom prst="rect">
            <a:avLst/>
          </a:prstGeom>
          <a:solidFill>
            <a:srgbClr val="2D6A4F"/>
          </a:solidFill>
          <a:ln w="9525">
            <a:solidFill>
              <a:srgbClr val="10281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732520" y="285292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EQUIPMENT_ISSUE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732520" y="32004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issue_id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89320" y="4160520"/>
            <a:ext cx="2468880" cy="731520"/>
          </a:xfrm>
          <a:prstGeom prst="rect">
            <a:avLst/>
          </a:prstGeom>
          <a:solidFill>
            <a:srgbClr val="1B4332"/>
          </a:solidFill>
          <a:ln w="9525">
            <a:solidFill>
              <a:srgbClr val="10281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89320" y="422452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89320" y="45720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team_id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480560" y="5532120"/>
            <a:ext cx="2286000" cy="731520"/>
          </a:xfrm>
          <a:prstGeom prst="rect">
            <a:avLst/>
          </a:prstGeom>
          <a:solidFill>
            <a:srgbClr val="5C8A73"/>
          </a:solidFill>
          <a:ln w="9525">
            <a:solidFill>
              <a:srgbClr val="10281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480560" y="559612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SPORT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480560" y="59436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sport_id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223760" y="5532120"/>
            <a:ext cx="2286000" cy="731520"/>
          </a:xfrm>
          <a:prstGeom prst="rect">
            <a:avLst/>
          </a:prstGeom>
          <a:solidFill>
            <a:srgbClr val="5C8A73"/>
          </a:solidFill>
          <a:ln w="9525">
            <a:solidFill>
              <a:srgbClr val="10281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223760" y="559612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COACH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23760" y="59436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coach_id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 flipH="1">
            <a:off x="1737360" y="2176272"/>
            <a:ext cx="4343400" cy="9144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0" y="2176272"/>
            <a:ext cx="9144" cy="612648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H="1">
            <a:off x="4480560" y="2176272"/>
            <a:ext cx="1600200" cy="9144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80560" y="2176272"/>
            <a:ext cx="9144" cy="612648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80760" y="2176272"/>
            <a:ext cx="1143000" cy="612648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80760" y="2176272"/>
            <a:ext cx="3886200" cy="9144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966960" y="2176272"/>
            <a:ext cx="9144" cy="612648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23760" y="3520440"/>
            <a:ext cx="9144" cy="640080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H="1">
            <a:off x="5623560" y="4892040"/>
            <a:ext cx="1600200" cy="640080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223760" y="4892040"/>
            <a:ext cx="1143000" cy="640080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2304288"/>
            <a:ext cx="16459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D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: 1  enrolled in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657600" y="2304288"/>
            <a:ext cx="16459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D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  makes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829300" y="2304288"/>
            <a:ext cx="16459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D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  plays as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144000" y="2304288"/>
            <a:ext cx="16459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D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  borrows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00800" y="3739896"/>
            <a:ext cx="16459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D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: 1  belongs to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120640" y="5065776"/>
            <a:ext cx="16459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D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: 1  plays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223760" y="5065776"/>
            <a:ext cx="16459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D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: 1  coached by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30 · Sports Club DBMS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Diagram — Facility &amp; Tournament Domain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502920" cy="457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463040"/>
            <a:ext cx="2560320" cy="731520"/>
          </a:xfrm>
          <a:prstGeom prst="rect">
            <a:avLst/>
          </a:prstGeom>
          <a:solidFill>
            <a:srgbClr val="1B4332"/>
          </a:solidFill>
          <a:ln w="9525">
            <a:solidFill>
              <a:srgbClr val="10281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52704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FACILITY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8745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facility_id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05840" y="3337560"/>
            <a:ext cx="2560320" cy="731520"/>
          </a:xfrm>
          <a:prstGeom prst="rect">
            <a:avLst/>
          </a:prstGeom>
          <a:solidFill>
            <a:srgbClr val="2D6A4F"/>
          </a:solidFill>
          <a:ln w="9525">
            <a:solidFill>
              <a:srgbClr val="10281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340156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TRAINING_SESSION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3749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session_id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5257800"/>
            <a:ext cx="2103120" cy="731520"/>
          </a:xfrm>
          <a:prstGeom prst="rect">
            <a:avLst/>
          </a:prstGeom>
          <a:solidFill>
            <a:srgbClr val="5C8A73"/>
          </a:solidFill>
          <a:ln w="9525">
            <a:solidFill>
              <a:srgbClr val="10281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" y="532180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" y="56692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(shared)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51760" y="5257800"/>
            <a:ext cx="2103120" cy="731520"/>
          </a:xfrm>
          <a:prstGeom prst="rect">
            <a:avLst/>
          </a:prstGeom>
          <a:solidFill>
            <a:srgbClr val="5C8A73"/>
          </a:solidFill>
          <a:ln w="9525">
            <a:solidFill>
              <a:srgbClr val="10281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651760" y="532180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51760" y="56692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(shared)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0" y="2194560"/>
            <a:ext cx="9144" cy="1143000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>
            <a:off x="1325880" y="4069080"/>
            <a:ext cx="960120" cy="1188720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0" y="4069080"/>
            <a:ext cx="1417320" cy="1188720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63040" y="2825496"/>
            <a:ext cx="16459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D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  hosts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" y="4745736"/>
            <a:ext cx="16459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D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  conducts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88920" y="4745736"/>
            <a:ext cx="16459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D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  trains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680960" y="1463040"/>
            <a:ext cx="2651760" cy="731520"/>
          </a:xfrm>
          <a:prstGeom prst="rect">
            <a:avLst/>
          </a:prstGeom>
          <a:solidFill>
            <a:srgbClr val="1B4332"/>
          </a:solidFill>
          <a:ln w="9525">
            <a:solidFill>
              <a:srgbClr val="10281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680960" y="15270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TOURNAMENT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680960" y="18745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tournament_id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680960" y="3337560"/>
            <a:ext cx="2651760" cy="731520"/>
          </a:xfrm>
          <a:prstGeom prst="rect">
            <a:avLst/>
          </a:prstGeom>
          <a:solidFill>
            <a:srgbClr val="2D6A4F"/>
          </a:solidFill>
          <a:ln w="9525">
            <a:solidFill>
              <a:srgbClr val="10281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680960" y="340156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FIXTURE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680960" y="37490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fixture_id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675120" y="5257800"/>
            <a:ext cx="2286000" cy="731520"/>
          </a:xfrm>
          <a:prstGeom prst="rect">
            <a:avLst/>
          </a:prstGeom>
          <a:solidFill>
            <a:srgbClr val="5C8A73"/>
          </a:solidFill>
          <a:ln w="9525">
            <a:solidFill>
              <a:srgbClr val="10281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675120" y="53218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675120" y="56692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participant_id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281160" y="5257800"/>
            <a:ext cx="2286000" cy="731520"/>
          </a:xfrm>
          <a:prstGeom prst="rect">
            <a:avLst/>
          </a:prstGeom>
          <a:solidFill>
            <a:srgbClr val="5C8A73"/>
          </a:solidFill>
          <a:ln w="9525">
            <a:solidFill>
              <a:srgbClr val="10281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281160" y="53218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281160" y="56692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result_id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006840" y="2194560"/>
            <a:ext cx="9144" cy="1143000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H="1">
            <a:off x="7818120" y="4069080"/>
            <a:ext cx="1188720" cy="1188720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006840" y="4069080"/>
            <a:ext cx="1417320" cy="1188720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83880" y="2825496"/>
            <a:ext cx="16459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D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  schedules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086600" y="4745736"/>
            <a:ext cx="16459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D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  has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509760" y="4745736"/>
            <a:ext cx="16459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D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1  produces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566160" y="1828800"/>
            <a:ext cx="4114800" cy="9144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80960" y="1828800"/>
            <a:ext cx="9144" cy="1737360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54880" y="5623560"/>
            <a:ext cx="1920240" cy="9144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1911096"/>
            <a:ext cx="16459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D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  held at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92040" y="5431536"/>
            <a:ext cx="16459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D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  competes in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30 · Sports Club DBMS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Tables — Membership &amp; Sports (1/2)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502920" cy="457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5" name="Shape 3"/>
          <p:cNvSpPr/>
          <p:nvPr/>
        </p:nvSpPr>
        <p:spPr>
          <a:xfrm>
            <a:off x="316840" y="1600200"/>
            <a:ext cx="2697480" cy="210312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6840" y="1600200"/>
            <a:ext cx="2697480" cy="329184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7" name="Text 5"/>
          <p:cNvSpPr/>
          <p:nvPr/>
        </p:nvSpPr>
        <p:spPr>
          <a:xfrm>
            <a:off x="426568" y="1600200"/>
            <a:ext cx="2478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MEMBERSHIP_PLAN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26568" y="2011680"/>
            <a:ext cx="24780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0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plan_id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plan_name (UNIQUE), duration_months, fee, benefits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70352" y="1600200"/>
            <a:ext cx="2697480" cy="210312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0352" y="1600200"/>
            <a:ext cx="2697480" cy="329184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1" name="Text 9"/>
          <p:cNvSpPr/>
          <p:nvPr/>
        </p:nvSpPr>
        <p:spPr>
          <a:xfrm>
            <a:off x="3380080" y="1600200"/>
            <a:ext cx="2478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80080" y="2011680"/>
            <a:ext cx="24780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0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member_id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0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plan_id → MEMBERSHIP_PLAN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phone (UNIQUE), email (UNIQUE), dob, join_date, membership_start, membership_end, status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23864" y="1600200"/>
            <a:ext cx="2697480" cy="210312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23864" y="1600200"/>
            <a:ext cx="2697480" cy="329184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5" name="Text 13"/>
          <p:cNvSpPr/>
          <p:nvPr/>
        </p:nvSpPr>
        <p:spPr>
          <a:xfrm>
            <a:off x="6333592" y="1600200"/>
            <a:ext cx="2478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33592" y="2011680"/>
            <a:ext cx="24780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0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payment_id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0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member_id → MEMBER, plan_id → MEMBERSHIP_PLAN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amount, payment_date, mode, status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77376" y="1600200"/>
            <a:ext cx="2697480" cy="210312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77376" y="1600200"/>
            <a:ext cx="2697480" cy="329184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9" name="Text 17"/>
          <p:cNvSpPr/>
          <p:nvPr/>
        </p:nvSpPr>
        <p:spPr>
          <a:xfrm>
            <a:off x="9287104" y="1600200"/>
            <a:ext cx="2478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SPORT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287104" y="2011680"/>
            <a:ext cx="24780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0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sport_id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sport_name (UNIQUE), category, max_team_size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6840" y="3959352"/>
            <a:ext cx="2697480" cy="210312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6840" y="3959352"/>
            <a:ext cx="2697480" cy="329184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3" name="Text 21"/>
          <p:cNvSpPr/>
          <p:nvPr/>
        </p:nvSpPr>
        <p:spPr>
          <a:xfrm>
            <a:off x="426568" y="3959352"/>
            <a:ext cx="2478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COACH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26568" y="4370832"/>
            <a:ext cx="24780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0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coach_id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0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sport_id → SPORT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phone (UNIQUE), specialization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70352" y="3959352"/>
            <a:ext cx="2697480" cy="210312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70352" y="3959352"/>
            <a:ext cx="2697480" cy="329184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7" name="Text 25"/>
          <p:cNvSpPr/>
          <p:nvPr/>
        </p:nvSpPr>
        <p:spPr>
          <a:xfrm>
            <a:off x="3380080" y="3959352"/>
            <a:ext cx="2478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380080" y="4370832"/>
            <a:ext cx="24780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0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team_id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0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sport_id → SPORT, coach_id → COACH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team_name (UNIQUE), formed_on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23864" y="3959352"/>
            <a:ext cx="2697480" cy="210312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23864" y="3959352"/>
            <a:ext cx="2697480" cy="329184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1" name="Text 29"/>
          <p:cNvSpPr/>
          <p:nvPr/>
        </p:nvSpPr>
        <p:spPr>
          <a:xfrm>
            <a:off x="6333592" y="3959352"/>
            <a:ext cx="2478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TEAM_MEMBER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333592" y="4370832"/>
            <a:ext cx="24780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0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team_member_id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0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team_id → TEAM, member_id → MEMBER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joined_on; UNIQUE (team_id, member_id)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30 · Sports Club DBMS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Tables — Facility &amp; Tournament (2/2)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502920" cy="457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5" name="Shape 3"/>
          <p:cNvSpPr/>
          <p:nvPr/>
        </p:nvSpPr>
        <p:spPr>
          <a:xfrm>
            <a:off x="316840" y="1600200"/>
            <a:ext cx="2697480" cy="210312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6840" y="1600200"/>
            <a:ext cx="2697480" cy="329184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7" name="Text 5"/>
          <p:cNvSpPr/>
          <p:nvPr/>
        </p:nvSpPr>
        <p:spPr>
          <a:xfrm>
            <a:off x="426568" y="1600200"/>
            <a:ext cx="2478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FACILITY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26568" y="2011680"/>
            <a:ext cx="24780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0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facility_id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facility_name (UNIQUE), type, capacity, status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70352" y="1600200"/>
            <a:ext cx="2697480" cy="210312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0352" y="1600200"/>
            <a:ext cx="2697480" cy="329184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1" name="Text 9"/>
          <p:cNvSpPr/>
          <p:nvPr/>
        </p:nvSpPr>
        <p:spPr>
          <a:xfrm>
            <a:off x="3380080" y="1600200"/>
            <a:ext cx="2478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TRAINING_SESSION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80080" y="2011680"/>
            <a:ext cx="24780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0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session_id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0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team_id → TEAM, coach_id → COACH, facility_id → FACILITY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session_date, start_time, end_time, max_attendees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23864" y="1600200"/>
            <a:ext cx="2697480" cy="210312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23864" y="1600200"/>
            <a:ext cx="2697480" cy="329184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5" name="Text 13"/>
          <p:cNvSpPr/>
          <p:nvPr/>
        </p:nvSpPr>
        <p:spPr>
          <a:xfrm>
            <a:off x="6333592" y="1600200"/>
            <a:ext cx="2478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TOURNAMENT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33592" y="2011680"/>
            <a:ext cx="24780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0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tournament_id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0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sport_id → SPORT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tournament_name, start_date, end_date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77376" y="1600200"/>
            <a:ext cx="2697480" cy="210312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77376" y="1600200"/>
            <a:ext cx="2697480" cy="329184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9" name="Text 17"/>
          <p:cNvSpPr/>
          <p:nvPr/>
        </p:nvSpPr>
        <p:spPr>
          <a:xfrm>
            <a:off x="9287104" y="1600200"/>
            <a:ext cx="2478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FIXTURE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287104" y="2011680"/>
            <a:ext cx="24780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0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fixture_id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0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tournament_id, facility_id, team1_id, team2_id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fixture_date, start_time, end_time, status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6840" y="3959352"/>
            <a:ext cx="2697480" cy="210312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6840" y="3959352"/>
            <a:ext cx="2697480" cy="329184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3" name="Text 21"/>
          <p:cNvSpPr/>
          <p:nvPr/>
        </p:nvSpPr>
        <p:spPr>
          <a:xfrm>
            <a:off x="426568" y="3959352"/>
            <a:ext cx="2478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PARTICIPANT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26568" y="4370832"/>
            <a:ext cx="24780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0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participant_id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0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fixture_id, team_id, member_id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role; UNIQUE (fixture_id, member_id)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70352" y="3959352"/>
            <a:ext cx="2697480" cy="210312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70352" y="3959352"/>
            <a:ext cx="2697480" cy="329184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7" name="Text 25"/>
          <p:cNvSpPr/>
          <p:nvPr/>
        </p:nvSpPr>
        <p:spPr>
          <a:xfrm>
            <a:off x="3380080" y="3959352"/>
            <a:ext cx="2478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380080" y="4370832"/>
            <a:ext cx="24780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0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result_id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0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fixture_id → FIXTURE (UNIQUE), winner_team_id → TEAM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team1_score, team2_score, remarks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23864" y="3959352"/>
            <a:ext cx="2697480" cy="210312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23864" y="3959352"/>
            <a:ext cx="2697480" cy="329184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1" name="Text 29"/>
          <p:cNvSpPr/>
          <p:nvPr/>
        </p:nvSpPr>
        <p:spPr>
          <a:xfrm>
            <a:off x="6333592" y="3959352"/>
            <a:ext cx="2478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EQUIPMENT_ISSUE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333592" y="4370832"/>
            <a:ext cx="24780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0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issue_id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0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member_id → MEMBER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equipment_name, quantity, issue_date, due_date, return_date, status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30 · Sports Club DBMS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Normalized Up To 3NF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502920" cy="457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45920"/>
            <a:ext cx="3566160" cy="233172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74520"/>
            <a:ext cx="685800" cy="6858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1NF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18745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Atomic values, no repeating groups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7432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equipment item is its own row in EQUIPMENT_ISSUE instead of a comma-separated list on the member.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1645920"/>
            <a:ext cx="3566160" cy="233172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1874520"/>
            <a:ext cx="685800" cy="6858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2NF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49240" y="18745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partial dependencies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26280" y="27432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TEAM_MEMBER holds only facts about the (team, member) pair; member details are never repeated there.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46720" y="1645920"/>
            <a:ext cx="3566160" cy="233172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75320" y="1874520"/>
            <a:ext cx="685800" cy="6858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7" name="Text 15"/>
          <p:cNvSpPr/>
          <p:nvPr/>
        </p:nvSpPr>
        <p:spPr>
          <a:xfrm>
            <a:off x="8275320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3NF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098280" y="18745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transitive dependencies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75320" y="27432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fee and duration live in MEMBERSHIP_PLAN, not in MEMBER (member → plan_id → fee).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4251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removing a transitive dependency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617720"/>
            <a:ext cx="5394960" cy="1325880"/>
          </a:xfrm>
          <a:prstGeom prst="rect">
            <a:avLst/>
          </a:prstGeom>
          <a:solidFill>
            <a:srgbClr val="1E2A24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4663440"/>
            <a:ext cx="5303520" cy="12344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Before: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MEMBER(member_id, name, plan_name, plan_fee, duration)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member_id -&gt; plan_name -&gt; plan_fee   (transitive)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89320" y="493776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6446520" y="4617720"/>
            <a:ext cx="5212080" cy="1325880"/>
          </a:xfrm>
          <a:prstGeom prst="rect">
            <a:avLst/>
          </a:prstGeom>
          <a:solidFill>
            <a:srgbClr val="1E2A24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4663440"/>
            <a:ext cx="5120640" cy="12344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(3NF):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MEMBER(member_id, name, plan_id FK)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MEMBERSHIP_PLAN(plan_id, plan_name, fee, duration_months)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30 · Sports Club DBMS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Constraints Used Across the Schema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502920" cy="457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45920"/>
            <a:ext cx="5669280" cy="4297680"/>
          </a:xfrm>
          <a:prstGeom prst="rect">
            <a:avLst/>
          </a:prstGeom>
          <a:solidFill>
            <a:srgbClr val="1E2A24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691640"/>
            <a:ext cx="5577840" cy="42062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member (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member_id   INT AUTO_INCREMENT PRIMARY KEY,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   VARCHAR(100) NOT NULL,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       VARCHAR(120) UNIQUE,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join_date   DATE DEFAULT (CURRENT_DATE),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plan_id     INT NOT NULL,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membership_end DATE,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 ENUM('Active','Expired','Suspended')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DEFAULT 'Active',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(plan_id)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REFERENCES membership_plan(plan_id),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CHECK (membership_end &gt;= join_date)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92240" y="1645920"/>
            <a:ext cx="5166360" cy="64008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6459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KEY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183880" y="16459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Auto-increment surrogate key on every table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92240" y="2377440"/>
            <a:ext cx="5166360" cy="64008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23774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FOREIGN KEY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183880" y="23774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 with deliberate RESTRICT / CASCADE rules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92240" y="3108960"/>
            <a:ext cx="5166360" cy="64008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31089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183880" y="31089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phone, team name, one result per fixture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92240" y="3840480"/>
            <a:ext cx="5166360" cy="64008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38404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NULL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183880" y="38404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fields such as name, dates, amounts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92240" y="4572000"/>
            <a:ext cx="5166360" cy="64008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45720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45720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scores, fee &gt;= 0, end time after start time, team1 &lt;&gt; team2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92240" y="5303520"/>
            <a:ext cx="5166360" cy="64008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53035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183880" y="53035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join date, payment date set automatically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30 · Sports Club DBMS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Enforced Inside the Database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502920" cy="45720"/>
          </a:xfrm>
          <a:prstGeom prst="rect">
            <a:avLst/>
          </a:prstGeom>
          <a:solidFill>
            <a:srgbClr val="E9C46A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4066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rule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is enforced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28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overlapping facility schedule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INSERT/UPDATE triggers on training_session and fixture (time-overlap check)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28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overlapping team schedule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triggers, checked per team across sessions and fixtures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28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membership required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Triggers on team_member, participant and equipment_issue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28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scores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(score &gt;= 0); winner must match the higher score (sp_enter_result)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28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 limits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Triggers compare counts with sport.max_team_size and facility.capacity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28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Equipment-return limits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3 unreturned items; no new issue while any item is overdue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28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Facility must be available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 rejects bookings for facilities under maintenance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28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Same-sport consistency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Teams, coaches and fixtures must match the tournament's sport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30 · Sports Club DBMS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&amp; PROCEDURES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Preventing a Double-Booked Facility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502920" cy="457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45920"/>
            <a:ext cx="6675120" cy="4297680"/>
          </a:xfrm>
          <a:prstGeom prst="rect">
            <a:avLst/>
          </a:prstGeom>
          <a:solidFill>
            <a:srgbClr val="1E2A24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691640"/>
            <a:ext cx="6583680" cy="42062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DELIMITER //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TRIGGER trg_session_no_overlap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INSERT ON training_session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ROW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EXISTS (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1 FROM training_session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facility_id  = NEW.facility_id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AND session_date = NEW.session_date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AND NEW.start_time &lt; end_time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AND NEW.end_time   &gt; start_time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 THEN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SIGNAL SQLSTATE '45000'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SET MESSAGE_TEXT =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'Facility already booked for this slot';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 IF;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END//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DELIMITER ;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498080" y="1645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Stored procedures (transactional)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498080" y="2148840"/>
            <a:ext cx="4160520" cy="530352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5240" y="214884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8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sp_register_member_with_payment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0" y="2788920"/>
            <a:ext cx="4160520" cy="530352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278892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8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sp_renew_membership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98080" y="3429000"/>
            <a:ext cx="4160520" cy="530352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35240" y="342900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8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sp_enter_result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98080" y="4069080"/>
            <a:ext cx="4160520" cy="530352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5240" y="406908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8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sp_issue_equipment / sp_return_equipment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0" y="484632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multi-step procedure uses START TRANSACTION with an error handler, so a failed step rolls everything back.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30 · Sports Club DBMS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Retrieval, Joins, Aggregates and Nested Queries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502920" cy="457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Join: active members and plans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440680" cy="1783080"/>
          </a:xfrm>
          <a:prstGeom prst="rect">
            <a:avLst/>
          </a:prstGeom>
          <a:solidFill>
            <a:srgbClr val="1E2A24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011680"/>
            <a:ext cx="5349240" cy="16916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m.name, p.plan_name, m.membership_end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member m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membership_plan p ON p.plan_id = m.plan_id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m.status = 'Active'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m.membership_end;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172200" y="160020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Aggregate: players per sport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1965960"/>
            <a:ext cx="5440680" cy="1783080"/>
          </a:xfrm>
          <a:prstGeom prst="rect">
            <a:avLst/>
          </a:prstGeom>
          <a:solidFill>
            <a:srgbClr val="1E2A24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2011680"/>
            <a:ext cx="5349240" cy="16916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s.sport_name,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COUNT(DISTINCT tm.member_id) AS players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sport s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team t ON t.sport_id = s.sport_id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team_member tm ON tm.team_id = t.team_id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s.sport_name HAVING players &gt; 5;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388620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Nested: members with overdue equipment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251960"/>
            <a:ext cx="5440680" cy="1783080"/>
          </a:xfrm>
          <a:prstGeom prst="rect">
            <a:avLst/>
          </a:prstGeom>
          <a:solidFill>
            <a:srgbClr val="1E2A24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4297680"/>
            <a:ext cx="5349240" cy="16916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 FROM member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member_id IN (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member_id FROM equipment_issue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status = 'Overdue');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172200" y="388620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Correlated: members who never paid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172200" y="4251960"/>
            <a:ext cx="5440680" cy="1783080"/>
          </a:xfrm>
          <a:prstGeom prst="rect">
            <a:avLst/>
          </a:prstGeom>
          <a:solidFill>
            <a:srgbClr val="1E2A24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4297680"/>
            <a:ext cx="5349240" cy="16916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m.name FROM member m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NOT EXISTS (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1 FROM payment p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p.member_id = m.member_id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8E6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 p.status = 'Paid');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30 · Sports Club DBMS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&amp; REPORTS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Views Power the Reports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502920" cy="457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5" name="Shape 3"/>
          <p:cNvSpPr/>
          <p:nvPr/>
        </p:nvSpPr>
        <p:spPr>
          <a:xfrm>
            <a:off x="316840" y="1645920"/>
            <a:ext cx="2697480" cy="196596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6840" y="1645920"/>
            <a:ext cx="82296" cy="19659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7" name="Text 5"/>
          <p:cNvSpPr/>
          <p:nvPr/>
        </p:nvSpPr>
        <p:spPr>
          <a:xfrm>
            <a:off x="545440" y="1828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v_active_memberships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5440" y="2560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members with plan and expiry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70352" y="1645920"/>
            <a:ext cx="2697480" cy="196596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0352" y="1645920"/>
            <a:ext cx="82296" cy="19659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1" name="Text 9"/>
          <p:cNvSpPr/>
          <p:nvPr/>
        </p:nvSpPr>
        <p:spPr>
          <a:xfrm>
            <a:off x="3498952" y="1828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v_membership_expiring_30_days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98952" y="2560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Renewals due in the next 30 days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23864" y="1645920"/>
            <a:ext cx="2697480" cy="196596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23864" y="1645920"/>
            <a:ext cx="82296" cy="19659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5" name="Text 13"/>
          <p:cNvSpPr/>
          <p:nvPr/>
        </p:nvSpPr>
        <p:spPr>
          <a:xfrm>
            <a:off x="6452464" y="1828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v_fixture_schedule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52464" y="2560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Fixtures with teams, venue and status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177376" y="1645920"/>
            <a:ext cx="2697480" cy="196596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77376" y="1645920"/>
            <a:ext cx="82296" cy="19659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9" name="Text 17"/>
          <p:cNvSpPr/>
          <p:nvPr/>
        </p:nvSpPr>
        <p:spPr>
          <a:xfrm>
            <a:off x="9405976" y="1828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v_tournament_standings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405976" y="2560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table: 3 for a win, 1 for a draw, goal difference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16840" y="3886200"/>
            <a:ext cx="2697480" cy="196596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6840" y="3886200"/>
            <a:ext cx="82296" cy="19659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3" name="Text 21"/>
          <p:cNvSpPr/>
          <p:nvPr/>
        </p:nvSpPr>
        <p:spPr>
          <a:xfrm>
            <a:off x="545440" y="40690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v_facility_utilization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5440" y="4800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Booked hours per facility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270352" y="3886200"/>
            <a:ext cx="2697480" cy="196596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70352" y="3886200"/>
            <a:ext cx="82296" cy="19659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7" name="Text 25"/>
          <p:cNvSpPr/>
          <p:nvPr/>
        </p:nvSpPr>
        <p:spPr>
          <a:xfrm>
            <a:off x="3498952" y="40690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v_player_performance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98952" y="4800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Appearances and team wins per player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23864" y="3886200"/>
            <a:ext cx="2697480" cy="196596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23864" y="3886200"/>
            <a:ext cx="82296" cy="19659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31" name="Text 29"/>
          <p:cNvSpPr/>
          <p:nvPr/>
        </p:nvSpPr>
        <p:spPr>
          <a:xfrm>
            <a:off x="6452464" y="40690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v_fee_dues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52464" y="4800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with pending or lapsed fees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9177376" y="3886200"/>
            <a:ext cx="2697480" cy="196596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77376" y="3886200"/>
            <a:ext cx="82296" cy="19659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35" name="Text 33"/>
          <p:cNvSpPr/>
          <p:nvPr/>
        </p:nvSpPr>
        <p:spPr>
          <a:xfrm>
            <a:off x="9405976" y="40690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v_equipment_status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405976" y="4800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Issued, returned and overdue items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30 · Sports Club DBMS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RELIABILITY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Transactions and Indexing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502920" cy="457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45920"/>
            <a:ext cx="5440680" cy="429768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awareness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registration and first payment commit together or not at all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entry inserts the score, sets the winner and marks the fixture Completed in one transaction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issue re-checks limits inside the transaction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handler issues ROLLBACK and returns a clear message to the UI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440680" cy="429768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Indexes on frequently searched columns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2423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549640" y="2423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phone, status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92240" y="295351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team_member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549640" y="295351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team_id, member_id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92240" y="348386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fixture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549640" y="348386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fixture_date, facility_id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92240" y="401421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training_session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549640" y="401421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session_date, facility_id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92240" y="45445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549640" y="454456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member_id, payment_date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92240" y="5074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equipment_issue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549640" y="50749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member_id, status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30 · Sports Club DBMS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APPLICATION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Flask Web App With Ten Modules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502920" cy="457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5" name="Shape 3"/>
          <p:cNvSpPr/>
          <p:nvPr/>
        </p:nvSpPr>
        <p:spPr>
          <a:xfrm>
            <a:off x="563728" y="1600200"/>
            <a:ext cx="2103120" cy="132588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6608" y="1783080"/>
            <a:ext cx="365760" cy="36576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Text 5"/>
          <p:cNvSpPr/>
          <p:nvPr/>
        </p:nvSpPr>
        <p:spPr>
          <a:xfrm>
            <a:off x="746608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6608" y="225856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04008" y="1600200"/>
            <a:ext cx="2103120" cy="132588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86888" y="1783080"/>
            <a:ext cx="365760" cy="36576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1" name="Text 9"/>
          <p:cNvSpPr/>
          <p:nvPr/>
        </p:nvSpPr>
        <p:spPr>
          <a:xfrm>
            <a:off x="2986888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86888" y="225856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44288" y="1600200"/>
            <a:ext cx="2103120" cy="132588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27168" y="1783080"/>
            <a:ext cx="365760" cy="36576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5" name="Text 13"/>
          <p:cNvSpPr/>
          <p:nvPr/>
        </p:nvSpPr>
        <p:spPr>
          <a:xfrm>
            <a:off x="5227168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27168" y="225856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Formation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284568" y="1600200"/>
            <a:ext cx="2103120" cy="132588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67448" y="1783080"/>
            <a:ext cx="365760" cy="36576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9" name="Text 17"/>
          <p:cNvSpPr/>
          <p:nvPr/>
        </p:nvSpPr>
        <p:spPr>
          <a:xfrm>
            <a:off x="7467448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67448" y="225856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Scheduling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524848" y="1600200"/>
            <a:ext cx="2103120" cy="132588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07728" y="1783080"/>
            <a:ext cx="365760" cy="36576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3" name="Text 21"/>
          <p:cNvSpPr/>
          <p:nvPr/>
        </p:nvSpPr>
        <p:spPr>
          <a:xfrm>
            <a:off x="9707728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707728" y="225856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Booking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63728" y="3154680"/>
            <a:ext cx="2103120" cy="132588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6608" y="3337560"/>
            <a:ext cx="365760" cy="36576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7" name="Text 25"/>
          <p:cNvSpPr/>
          <p:nvPr/>
        </p:nvSpPr>
        <p:spPr>
          <a:xfrm>
            <a:off x="746608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6608" y="381304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 Creation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804008" y="3154680"/>
            <a:ext cx="2103120" cy="132588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86888" y="3337560"/>
            <a:ext cx="365760" cy="36576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31" name="Text 29"/>
          <p:cNvSpPr/>
          <p:nvPr/>
        </p:nvSpPr>
        <p:spPr>
          <a:xfrm>
            <a:off x="2986888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986888" y="381304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Entry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044288" y="3154680"/>
            <a:ext cx="2103120" cy="132588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27168" y="3337560"/>
            <a:ext cx="365760" cy="36576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35" name="Text 33"/>
          <p:cNvSpPr/>
          <p:nvPr/>
        </p:nvSpPr>
        <p:spPr>
          <a:xfrm>
            <a:off x="5227168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227168" y="381304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Collection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284568" y="3154680"/>
            <a:ext cx="2103120" cy="132588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67448" y="3337560"/>
            <a:ext cx="365760" cy="36576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39" name="Text 37"/>
          <p:cNvSpPr/>
          <p:nvPr/>
        </p:nvSpPr>
        <p:spPr>
          <a:xfrm>
            <a:off x="7467448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467448" y="381304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Issue / Return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9524848" y="3154680"/>
            <a:ext cx="2103120" cy="132588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707728" y="3337560"/>
            <a:ext cx="365760" cy="36576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43" name="Text 41"/>
          <p:cNvSpPr/>
          <p:nvPr/>
        </p:nvSpPr>
        <p:spPr>
          <a:xfrm>
            <a:off x="9707728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707728" y="381304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48640" y="4709160"/>
            <a:ext cx="2651760" cy="1371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46" name="Text 44"/>
          <p:cNvSpPr/>
          <p:nvPr/>
        </p:nvSpPr>
        <p:spPr>
          <a:xfrm>
            <a:off x="685800" y="4800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85800" y="513892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Flask, Jinja2, Bootstrap 5, mysql-connector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3364992" y="4709160"/>
            <a:ext cx="2651760" cy="1371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49" name="Text 47"/>
          <p:cNvSpPr/>
          <p:nvPr/>
        </p:nvSpPr>
        <p:spPr>
          <a:xfrm>
            <a:off x="3502152" y="4800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validation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3502152" y="513892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checks for required fields, formats, ranges and date logic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181344" y="4709160"/>
            <a:ext cx="2651760" cy="1371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52" name="Text 50"/>
          <p:cNvSpPr/>
          <p:nvPr/>
        </p:nvSpPr>
        <p:spPr>
          <a:xfrm>
            <a:off x="6318504" y="4800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queries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318504" y="513892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SQL only, no string concatenation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8997696" y="4709160"/>
            <a:ext cx="2651760" cy="1371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55" name="Text 53"/>
          <p:cNvSpPr/>
          <p:nvPr/>
        </p:nvSpPr>
        <p:spPr>
          <a:xfrm>
            <a:off x="9134856" y="4800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feedback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9134856" y="513892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trigger messages shown as friendly alerts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30 · Sports Club DBMS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Systematic Testing Approach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502920" cy="457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45920"/>
            <a:ext cx="2651760" cy="310896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45920"/>
            <a:ext cx="2651760" cy="82296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 tests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failing and one passing case for every PK, FK, UNIQUE, NOT NULL, CHECK and DEFAULT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64992" y="1645920"/>
            <a:ext cx="2651760" cy="310896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64992" y="1645920"/>
            <a:ext cx="2651760" cy="82296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1" name="Text 9"/>
          <p:cNvSpPr/>
          <p:nvPr/>
        </p:nvSpPr>
        <p:spPr>
          <a:xfrm>
            <a:off x="3547872" y="1920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Business-rule tests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47872" y="256032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Overlaps, inactive members, invalid scores, capacity and equipment limits must be rejected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81344" y="1645920"/>
            <a:ext cx="2651760" cy="310896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81344" y="1645920"/>
            <a:ext cx="2651760" cy="82296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5" name="Text 13"/>
          <p:cNvSpPr/>
          <p:nvPr/>
        </p:nvSpPr>
        <p:spPr>
          <a:xfrm>
            <a:off x="6364224" y="1920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tests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64224" y="256032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for validators and key routes; manual walkthrough of all ten modules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997696" y="1645920"/>
            <a:ext cx="2651760" cy="310896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97696" y="1645920"/>
            <a:ext cx="2651760" cy="82296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9" name="Text 17"/>
          <p:cNvSpPr/>
          <p:nvPr/>
        </p:nvSpPr>
        <p:spPr>
          <a:xfrm>
            <a:off x="9180576" y="1920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verification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80576" y="256032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view checked against hand-computed results on the sample data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029200"/>
            <a:ext cx="11064240" cy="9144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029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recorded in a test report: test ID, input, expected outcome, actual outcome, pass / fail.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30 · Sports Club DBMS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Outcomes and 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502920" cy="457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45920"/>
            <a:ext cx="5440680" cy="4297680"/>
          </a:xfrm>
          <a:prstGeom prst="rect">
            <a:avLst/>
          </a:prstGeom>
          <a:solidFill>
            <a:srgbClr val="F7F5EF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delivered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14-table relational schema in 3NF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constraint set plus eight business rules in triggers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sample data, queries and eight report views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procedures and indexes on hot columns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front end covering all ten modules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440680" cy="4297680"/>
          </a:xfrm>
          <a:prstGeom prst="rect">
            <a:avLst/>
          </a:prstGeom>
          <a:solidFill>
            <a:srgbClr val="FBF3E3"/>
          </a:solidFill>
          <a:ln w="9525">
            <a:solidFill>
              <a:srgbClr val="B9C4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6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233172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login for admin, coach and member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 gateway integration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SMS reminders for dues and fixtures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fixture generation (round robin, knockout)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30 · Sports Club DBMS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240000">
            <a:off x="-914400" y="4206240"/>
            <a:ext cx="14020495" cy="2926080"/>
          </a:xfrm>
          <a:prstGeom prst="rect">
            <a:avLst/>
          </a:prstGeom>
          <a:solidFill>
            <a:srgbClr val="10281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945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68680" y="3383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5394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Club Membership &amp; Tournament Management System  |  Project 30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2026-10-12T08:41:37Z</dcterms:created>
  <dcterms:modified xsi:type="dcterms:W3CDTF">2026-10-12T08:41:37Z</dcterms:modified>
</cp:coreProperties>
</file>